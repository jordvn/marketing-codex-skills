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7eca70a5742cc" /><Relationship Type="http://schemas.openxmlformats.org/officeDocument/2006/relationships/extended-properties" Target="/docProps/app.xml" Id="R3ae89602a5cb4b3e" /><Relationship Type="http://schemas.openxmlformats.org/officeDocument/2006/relationships/officeDocument" Target="/ppt/presentation.xml" Id="R5d715092f3b941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994162da449e5"/>
  </p:sldMasterIdLst>
  <p:notesMasterIdLst>
    <p:notesMasterId xmlns:r="http://schemas.openxmlformats.org/officeDocument/2006/relationships" r:id="R6a70bbcf7e1c425c"/>
  </p:notesMasterIdLst>
  <p:sldIdLst>
    <p:sldId xmlns:r="http://schemas.openxmlformats.org/officeDocument/2006/relationships" id="256" r:id="R12247e64a9694a69"/>
    <p:sldId xmlns:r="http://schemas.openxmlformats.org/officeDocument/2006/relationships" id="257" r:id="R282d2f570bbf4f27"/>
    <p:sldId xmlns:r="http://schemas.openxmlformats.org/officeDocument/2006/relationships" id="258" r:id="R0b1c5e9cc0844684"/>
    <p:sldId xmlns:r="http://schemas.openxmlformats.org/officeDocument/2006/relationships" id="259" r:id="R39d77e8e688b4aa0"/>
    <p:sldId xmlns:r="http://schemas.openxmlformats.org/officeDocument/2006/relationships" id="260" r:id="R6787d8d275144dcb"/>
    <p:sldId xmlns:r="http://schemas.openxmlformats.org/officeDocument/2006/relationships" id="261" r:id="Re9ab3b6b5e6544a4"/>
    <p:sldId xmlns:r="http://schemas.openxmlformats.org/officeDocument/2006/relationships" id="262" r:id="Rabf65ba9f38d49d6"/>
    <p:sldId xmlns:r="http://schemas.openxmlformats.org/officeDocument/2006/relationships" id="263" r:id="R585d478a321d405a"/>
    <p:sldId xmlns:r="http://schemas.openxmlformats.org/officeDocument/2006/relationships" id="264" r:id="R7c2f9a4b1244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6444052d14b66" /><Relationship Type="http://schemas.openxmlformats.org/officeDocument/2006/relationships/slideMaster" Target="/ppt/slideMasters/slideMaster1.xml" Id="R26b994162da449e5" /><Relationship Type="http://schemas.openxmlformats.org/officeDocument/2006/relationships/notesMaster" Target="/ppt/notesMasters/notesMaster1.xml" Id="R6a70bbcf7e1c425c" /><Relationship Type="http://schemas.openxmlformats.org/officeDocument/2006/relationships/presProps" Target="/ppt/presProps.xml" Id="R3d94d0e4008647b1" /><Relationship Type="http://schemas.openxmlformats.org/officeDocument/2006/relationships/tableStyles" Target="/ppt/tableStyles.xml" Id="R0a8fcd6695db455f" /><Relationship Type="http://schemas.openxmlformats.org/officeDocument/2006/relationships/slide" Target="/ppt/slides/slide1.xml" Id="R12247e64a9694a69" /><Relationship Type="http://schemas.openxmlformats.org/officeDocument/2006/relationships/slide" Target="/ppt/slides/slide2.xml" Id="R282d2f570bbf4f27" /><Relationship Type="http://schemas.openxmlformats.org/officeDocument/2006/relationships/slide" Target="/ppt/slides/slide3.xml" Id="R0b1c5e9cc0844684" /><Relationship Type="http://schemas.openxmlformats.org/officeDocument/2006/relationships/slide" Target="/ppt/slides/slide4.xml" Id="R39d77e8e688b4aa0" /><Relationship Type="http://schemas.openxmlformats.org/officeDocument/2006/relationships/slide" Target="/ppt/slides/slide5.xml" Id="R6787d8d275144dcb" /><Relationship Type="http://schemas.openxmlformats.org/officeDocument/2006/relationships/slide" Target="/ppt/slides/slide6.xml" Id="Re9ab3b6b5e6544a4" /><Relationship Type="http://schemas.openxmlformats.org/officeDocument/2006/relationships/slide" Target="/ppt/slides/slide7.xml" Id="Rabf65ba9f38d49d6" /><Relationship Type="http://schemas.openxmlformats.org/officeDocument/2006/relationships/slide" Target="/ppt/slides/slide8.xml" Id="R585d478a321d405a" /><Relationship Type="http://schemas.openxmlformats.org/officeDocument/2006/relationships/slide" Target="/ppt/slides/slide9.xml" Id="R7c2f9a4b1244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7d1587bc3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443b65e394654" /><Relationship Type="http://schemas.openxmlformats.org/officeDocument/2006/relationships/notesMaster" Target="/ppt/notesMasters/notesMaster1.xml" Id="R54a30d34d669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85f1969594d90" /><Relationship Type="http://schemas.openxmlformats.org/officeDocument/2006/relationships/notesMaster" Target="/ppt/notesMasters/notesMaster1.xml" Id="R2c2733207fac48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9d887b61c450d" /><Relationship Type="http://schemas.openxmlformats.org/officeDocument/2006/relationships/notesMaster" Target="/ppt/notesMasters/notesMaster1.xml" Id="R2059ee70efdb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6551d73f5d44eb" /><Relationship Type="http://schemas.openxmlformats.org/officeDocument/2006/relationships/notesMaster" Target="/ppt/notesMasters/notesMaster1.xml" Id="Rb4363e54e3f3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67c305a6384494" /><Relationship Type="http://schemas.openxmlformats.org/officeDocument/2006/relationships/notesMaster" Target="/ppt/notesMasters/notesMaster1.xml" Id="Rf3fcbcb96aa345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c0cdfff134517" /><Relationship Type="http://schemas.openxmlformats.org/officeDocument/2006/relationships/notesMaster" Target="/ppt/notesMasters/notesMaster1.xml" Id="R0cc8115dccee41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2c36398614482" /><Relationship Type="http://schemas.openxmlformats.org/officeDocument/2006/relationships/notesMaster" Target="/ppt/notesMasters/notesMaster1.xml" Id="Rbab6d80bf284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5228e3cd6a4a63" /><Relationship Type="http://schemas.openxmlformats.org/officeDocument/2006/relationships/notesMaster" Target="/ppt/notesMasters/notesMaster1.xml" Id="R349e695d7e2d44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cf4a19b76648e5" /><Relationship Type="http://schemas.openxmlformats.org/officeDocument/2006/relationships/notesMaster" Target="/ppt/notesMasters/notesMaster1.xml" Id="Rbfa09d72c82d46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Jul 28 is an in-progress day and is called out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Sign-up event counts are used as the best available conversion proxy. Key event totals are not used as a distinct-conversion total because events are duplicated.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Sign-up event count is raw eventCount, not keyEvents. Key-event configuration appears inconsistent across periods.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Week 31 contains only Jul 27–28 and is incomplete.</a:t>
            </a:r>
          </a:p>
          <a:p xmlns:a="http://schemas.openxmlformats.org/drawingml/2006/main">
            <a:r>
              <a:t>- The week-23 sign-up spike should be checked against campaign activity and event instrumentation.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Key-event signals may double count sign-ups because generate_lead and sign_up are both recorded for the same event.</a:t>
            </a:r>
          </a:p>
          <a:p xmlns:a="http://schemas.openxmlformats.org/drawingml/2006/main">
            <a:r>
              <a:t>- Referral sessions: 3,288 of 4,466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Landing-page data is incomplete for 12% of sessions ((not set): 540).</a:t>
            </a:r>
          </a:p>
          <a:p xmlns:a="http://schemas.openxmlformats.org/drawingml/2006/main">
            <a:r>
              <a:t>- Homepage key-event signals are potentially duplicated; use for directional location insight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Health-check conclusion: traffic and event volumes are usable for directional reporting; key-event and landing-page detail need remediation before KPI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Recommended actions are based on the GA4 performance and data-quality findings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Google Analytics 4 Data API; website property; extracted Jul 28, 2026. Current period May 1–Jul 28, 2026; comparison Jan 31–Apr 30, 2026.</a:t>
            </a:r>
          </a:p>
          <a:p xmlns:a="http://schemas.openxmlformats.org/drawingml/2006/main">
            <a:r>
              <a:t>- All report claims use GA4 Data API outputs obtained Jul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e483f3fb2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1aa45d2d9244d1" /><Relationship Type="http://schemas.openxmlformats.org/officeDocument/2006/relationships/slideLayout" Target="/ppt/slideLayouts/slideLayout1.xml" Id="R35fe9bc2795845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e9bc2795845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a2ecfb69342cc" /><Relationship Type="http://schemas.openxmlformats.org/officeDocument/2006/relationships/notesSlide" Target="/ppt/notesSlides/notesSlide1.xml" Id="R5112933aa45a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ebb0f8c984883" /><Relationship Type="http://schemas.openxmlformats.org/officeDocument/2006/relationships/notesSlide" Target="/ppt/notesSlides/notesSlide2.xml" Id="R86c765947b8a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312112864474" /><Relationship Type="http://schemas.openxmlformats.org/officeDocument/2006/relationships/notesSlide" Target="/ppt/notesSlides/notesSlide3.xml" Id="Rd93e1c0761c04f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316f367014b63" /><Relationship Type="http://schemas.openxmlformats.org/officeDocument/2006/relationships/chart" Target="/ppt/slides/charts/chart1.xml" Id="Rf807b562e66548b5" /><Relationship Type="http://schemas.openxmlformats.org/officeDocument/2006/relationships/chart" Target="/ppt/slides/charts/chart2.xml" Id="Rcd17934ac04445eb" /><Relationship Type="http://schemas.openxmlformats.org/officeDocument/2006/relationships/notesSlide" Target="/ppt/notesSlides/notesSlide4.xml" Id="R733508023a4d4b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586faf4ab42d3" /><Relationship Type="http://schemas.openxmlformats.org/officeDocument/2006/relationships/chart" Target="/ppt/slides/charts/chart3.xml" Id="R58c55cc3dc924ebb" /><Relationship Type="http://schemas.openxmlformats.org/officeDocument/2006/relationships/notesSlide" Target="/ppt/notesSlides/notesSlide5.xml" Id="Rb4737d335368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cefdf72a94c97" /><Relationship Type="http://schemas.openxmlformats.org/officeDocument/2006/relationships/chart" Target="/ppt/slides/charts/chart4.xml" Id="Rd8bff803cf2c43e1" /><Relationship Type="http://schemas.openxmlformats.org/officeDocument/2006/relationships/notesSlide" Target="/ppt/notesSlides/notesSlide6.xml" Id="R7082bab7e6b9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88438ef634044" /><Relationship Type="http://schemas.openxmlformats.org/officeDocument/2006/relationships/notesSlide" Target="/ppt/notesSlides/notesSlide7.xml" Id="R235aef031c494a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695b4ff14f71" /><Relationship Type="http://schemas.openxmlformats.org/officeDocument/2006/relationships/notesSlide" Target="/ppt/notesSlides/notesSlide8.xml" Id="Re1a1e352248d4f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e4aae9dbe4782" /><Relationship Type="http://schemas.openxmlformats.org/officeDocument/2006/relationships/notesSlide" Target="/ppt/notesSlides/notesSlide9.xml" Id="Rf88f94ee11b9475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Sessions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numLit>
              <c:formatCode>General</c:formatCode>
              <c:ptCount val="14"/>
              <c:pt idx="0">
                <c:v>18</c:v>
              </c:pt>
              <c:pt idx="1">
                <c:v>19</c:v>
              </c:pt>
              <c:pt idx="2">
                <c:v>20</c:v>
              </c:pt>
              <c:pt idx="3">
                <c:v>21</c:v>
              </c:pt>
              <c:pt idx="4">
                <c:v>22</c:v>
              </c:pt>
              <c:pt idx="5">
                <c:v>23</c:v>
              </c:pt>
              <c:pt idx="6">
                <c:v>24</c:v>
              </c:pt>
              <c:pt idx="7">
                <c:v>25</c:v>
              </c:pt>
              <c:pt idx="8">
                <c:v>26</c:v>
              </c:pt>
              <c:pt idx="9">
                <c:v>27</c:v>
              </c:pt>
              <c:pt idx="10">
                <c:v>28</c:v>
              </c:pt>
              <c:pt idx="11">
                <c:v>29</c:v>
              </c:pt>
              <c:pt idx="12">
                <c:v>30</c:v>
              </c:pt>
              <c:pt idx="13">
                <c:v>31</c:v>
              </c:pt>
            </c:numLit>
          </c:cat>
          <c:val>
            <c:numLit>
              <c:formatCode>General</c:formatCode>
              <c:ptCount val="14"/>
              <c:pt idx="0">
                <c:v>93</c:v>
              </c:pt>
              <c:pt idx="1">
                <c:v>465</c:v>
              </c:pt>
              <c:pt idx="2">
                <c:v>376</c:v>
              </c:pt>
              <c:pt idx="3">
                <c:v>214</c:v>
              </c:pt>
              <c:pt idx="4">
                <c:v>276</c:v>
              </c:pt>
              <c:pt idx="5">
                <c:v>363</c:v>
              </c:pt>
              <c:pt idx="6">
                <c:v>189</c:v>
              </c:pt>
              <c:pt idx="7">
                <c:v>617</c:v>
              </c:pt>
              <c:pt idx="8">
                <c:v>390</c:v>
              </c:pt>
              <c:pt idx="9">
                <c:v>415</c:v>
              </c:pt>
              <c:pt idx="10">
                <c:v>403</c:v>
              </c:pt>
              <c:pt idx="11">
                <c:v>286</c:v>
              </c:pt>
              <c:pt idx="12">
                <c:v>295</c:v>
              </c:pt>
              <c:pt idx="13">
                <c:v>85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Sign-up events</c:v>
          </c:tx>
          <c:spPr>
            <a:solidFill xmlns:a="http://schemas.openxmlformats.org/drawingml/2006/main">
              <a:srgbClr val="6DCBF4"/>
            </a:solidFill>
          </c:spPr>
          <c:cat>
            <c:numLit>
              <c:formatCode>General</c:formatCode>
              <c:ptCount val="14"/>
              <c:pt idx="0">
                <c:v>18</c:v>
              </c:pt>
              <c:pt idx="1">
                <c:v>19</c:v>
              </c:pt>
              <c:pt idx="2">
                <c:v>20</c:v>
              </c:pt>
              <c:pt idx="3">
                <c:v>21</c:v>
              </c:pt>
              <c:pt idx="4">
                <c:v>22</c:v>
              </c:pt>
              <c:pt idx="5">
                <c:v>23</c:v>
              </c:pt>
              <c:pt idx="6">
                <c:v>24</c:v>
              </c:pt>
              <c:pt idx="7">
                <c:v>25</c:v>
              </c:pt>
              <c:pt idx="8">
                <c:v>26</c:v>
              </c:pt>
              <c:pt idx="9">
                <c:v>27</c:v>
              </c:pt>
              <c:pt idx="10">
                <c:v>28</c:v>
              </c:pt>
              <c:pt idx="11">
                <c:v>29</c:v>
              </c:pt>
              <c:pt idx="12">
                <c:v>30</c:v>
              </c:pt>
              <c:pt idx="13">
                <c:v>31</c:v>
              </c:pt>
            </c:numLit>
          </c:cat>
          <c:val>
            <c:numLit>
              <c:formatCode>General</c:formatCode>
              <c:ptCount val="14"/>
              <c:pt idx="0">
                <c:v>2</c:v>
              </c:pt>
              <c:pt idx="1">
                <c:v>10</c:v>
              </c:pt>
              <c:pt idx="2">
                <c:v>14</c:v>
              </c:pt>
              <c:pt idx="3">
                <c:v>2</c:v>
              </c:pt>
              <c:pt idx="4">
                <c:v>6</c:v>
              </c:pt>
              <c:pt idx="5">
                <c:v>78</c:v>
              </c:pt>
              <c:pt idx="6">
                <c:v>8</c:v>
              </c:pt>
              <c:pt idx="7">
                <c:v>4</c:v>
              </c:pt>
              <c:pt idx="8">
                <c:v>6</c:v>
              </c:pt>
              <c:pt idx="9">
                <c:v>22</c:v>
              </c:pt>
              <c:pt idx="10">
                <c:v>8</c:v>
              </c:pt>
              <c:pt idx="11">
                <c:v>4</c:v>
              </c:pt>
              <c:pt idx="12">
                <c:v>4</c:v>
              </c:pt>
              <c:pt idx="13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Sessions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Referral</c:v>
              </c:pt>
              <c:pt idx="1">
                <c:v>Direct</c:v>
              </c:pt>
              <c:pt idx="2">
                <c:v>Organic Search</c:v>
              </c:pt>
              <c:pt idx="3">
                <c:v>Organic Social</c:v>
              </c:pt>
              <c:pt idx="4">
                <c:v>Unassigned</c:v>
              </c:pt>
              <c:pt idx="5">
                <c:v>AI Assistant</c:v>
              </c:pt>
            </c:strLit>
          </c:cat>
          <c:val>
            <c:numLit>
              <c:formatCode>General</c:formatCode>
              <c:ptCount val="6"/>
              <c:pt idx="0">
                <c:v>3288</c:v>
              </c:pt>
              <c:pt idx="1">
                <c:v>993</c:v>
              </c:pt>
              <c:pt idx="2">
                <c:v>99</c:v>
              </c:pt>
              <c:pt idx="3">
                <c:v>95</c:v>
              </c:pt>
              <c:pt idx="4">
                <c:v>26</c:v>
              </c:pt>
              <c:pt idx="5">
                <c:v>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Sessions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/?ref=onepagelove</c:v>
              </c:pt>
              <c:pt idx="1">
                <c:v>/?ref=minimal.gallery</c:v>
              </c:pt>
              <c:pt idx="2">
                <c:v>/</c:v>
              </c:pt>
              <c:pt idx="3">
                <c:v>(not set)</c:v>
              </c:pt>
              <c:pt idx="4">
                <c:v>/?ref=producthunt</c:v>
              </c:pt>
            </c:strLit>
          </c:cat>
          <c:val>
            <c:numLit>
              <c:formatCode>General</c:formatCode>
              <c:ptCount val="5"/>
              <c:pt idx="0">
                <c:v>1556</c:v>
              </c:pt>
              <c:pt idx="1">
                <c:v>1282</c:v>
              </c:pt>
              <c:pt idx="2">
                <c:v>903</c:v>
              </c:pt>
              <c:pt idx="3">
                <c:v>540</c:v>
              </c:pt>
              <c:pt idx="4">
                <c:v>43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4635E-58C2-46E1-B828-AFAE9E5E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8340E-5A60-4CC0-AAF6-778BB898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87BED-296A-43B6-9B0B-8DEC06B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Traffic scaled rapidly.</a:t>
            </a:r>
          </a:p>
          <a:p xmlns:a="http://schemas.openxmlformats.org/drawingml/2006/main">
            <a:pPr algn="l">
              <a:def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Measurement now needs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45FD0-A7D8-440C-B12C-AA57ADC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Last 90 days | May 1–Jul 28, 2026</a:t>
            </a:r>
          </a:p>
          <a:p xmlns:a="http://schemas.openxmlformats.org/drawingml/2006/main">
            <a:pPr algn="l">
              <a:defRPr sz="18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Compared with Jan 31–Apr 30,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96245-6191-4D55-BC4E-49F905F8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0C460-9199-44F0-991D-B37CEFC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GA4 performance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F3EAD-E308-4D2F-83B8-F2B7E21F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Extracted Jul 28, 2026</a:t>
            </a:r>
          </a:p>
        </p:txBody>
      </p:sp>
    </p:spTree>
    <p:extLst>
      <p:ext uri="{BB962C8B-B14F-4D97-AF65-F5344CB8AC3E}">
        <p14:creationId xmlns:p14="http://schemas.microsoft.com/office/powerpoint/2010/main" val="20451873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DB078-A041-44FF-9DB4-EED5E43D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BA513-B9E8-4B4F-BA55-9BDFD04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Sessions grew 7.1×, driven by referral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31F7-C314-4751-9F6A-9E58442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priority is to preserve high-intent traffic while fixing conversion measurement.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49483-27A8-496C-886E-AB802A8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0994D-A3B3-4D9A-A4CB-1B04613C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E9538-02BE-469C-805F-A0D9658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E494D-1E2E-408F-864E-7325B73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4,466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8EBC4-AFBD-4A16-9DCD-3DE387C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+612% vs prior 90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FEE38-91DF-4876-A504-D3E42F3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52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CDFC2-B72A-4617-A75C-0938B06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02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3,011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1FC48-AF7A-474A-9DC0-F1953856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146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+748% vs prior 90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6EF69-378B-4EA8-9408-F385517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SIGN-UP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97A2B-C89E-4A8B-9503-B2E4EB4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002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8D293-B449-4684-A511-0FC54E53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146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+608% vs prior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4309A-FEAA-438C-A852-086B9804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ENGAGEMENT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A992D-B212-4378-AC0D-5F9D797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02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50.1%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52A44-7D47-40CE-8B9A-7F7DFE0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146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−4.3 pp vs prior period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47808-DD60-4029-A785-F361C2A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52C1C-9BE8-4D4E-9F95-E580975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What this means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A9D30-1CDE-41B9-8068-F15461EC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• Referral traffic supplied 74% of sessions and 44% of key-event signals.</a:t>
            </a:r>
          </a:p>
          <a:p xmlns:a="http://schemas.openxmlformats.org/drawingml/2006/main">
            <a:pPr algn="l">
              <a:def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• The core homepage generated 96 key-event signals; referral-tagged homepage visits drove scale.</a:t>
            </a:r>
          </a:p>
          <a:p xmlns:a="http://schemas.openxmlformats.org/drawingml/2006/main">
            <a:pPr algn="l">
              <a:def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• GA4 records the same sign-up as both sign_up and generate_lead, so key events are not a clean conversion total.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7D0D1-6489-4D14-A1A9-C1EB0B7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467959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A533D1-070D-469B-BEB5-A8C7072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78B8A-5C33-4000-AA44-5375F2A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Growth was broad, but engagement did not keep 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A76B6-7092-406D-9705-BCEA225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Volume outgrew engagement: page views per session fell from 2.47 to 1.45.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0595C-F60B-4BFC-874D-E3AC148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EF0D-40FA-412E-B388-EC5A2B2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318BF-4A27-46EF-8EF3-12EFF5A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25106-6500-4D79-9597-8236458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52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Current 90d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67C58-5E49-48BE-BCF7-4CECF8E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Previous 90d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764CA-3F22-416A-B1ED-90DCF6E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C2824-7926-4F5B-9168-D2CDEF3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96C1F-0492-49F3-BF1A-4EA2D24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506C5-240F-4AE4-AB47-3455B7B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52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4,466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E1C56-3C13-43FA-9C86-C597327A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627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BD5E0-5B19-4FF5-BA8E-38DF6FC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52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+612%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588E4-FF15-4A70-A55A-427D637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A11F9-4E4A-4316-B15A-1B766E18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EDDC1-68E7-4233-B35D-50B8CBA1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3,011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81C3F-17F8-4BCA-923E-4D2D9A8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355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8B844-4A2C-4CAA-B9A8-AFBFCA07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+748%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2E28B-2EAF-46D7-9F51-EFA6BD34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62611-1EC7-42F6-B28F-F57D1B7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0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Page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87D8E-0AB5-4BC4-B174-195C092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00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6,476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95663-C991-4511-8DC9-52DF45F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0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1,550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39669-C1B3-4D24-88EE-C8217D4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0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+318%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088BB-6BCF-4E33-8422-80539BC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9784A-2D82-4367-BC84-7E69FF1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Engaged sessions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B8989-1E4D-4C2A-BA43-8CBFBD0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24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2,237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F1057-09E3-4E85-B9F2-55BB7963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341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5A6C4-18D6-409D-BCFB-37AC529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24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+556%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ECF61-EF66-4568-8EC8-51C45C55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FC5BF-58A5-44DF-89A0-E0BCE66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Engagement 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D9C1E-3876-415C-B4A2-DB8E89C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50.1%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9DA19-4E85-4B64-8017-EB5E5203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54.4%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2935FB-816E-4686-A534-9844216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48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−4.3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13B726-F530-4CBE-BF36-6D61D2A8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6FAE0-E75D-493E-8FCD-50DFDFB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Sign-up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426514-CB08-470F-99FC-4DD47C7A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85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18C7F-9C3A-4B4A-AB3F-F88D496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EE6019-1A09-49AC-8666-FF19023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72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+608%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5F790-B1CF-4F1C-B6C4-57D7425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1092578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B192B-5FD6-4723-AC83-C28F8723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25300-F84D-4F43-BAB7-C84C400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 June referral surge created the strongest traffic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4E618-FB89-4ADC-9531-18A3C92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Week 25 reached 617 sessions; volume settled near 300–400 sessions per week afterward.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F8A0-EFF4-402B-B04C-C8882DD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7F2DE-1AB9-402E-AD6B-4F315FBF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7143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7b562e66548b5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953375" y="1952625"/>
          <a:ext xmlns:a="http://schemas.openxmlformats.org/drawingml/2006/main" cx="304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7934ac04445e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B7CB4-936D-49EF-862D-3B89832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Sessions by ISO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158C3-7DD2-472D-A34F-B0A1B131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Sign-up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E4384-D9EE-45F5-BFBC-5BECA15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10532569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B7926-E47A-46DA-B29F-A3BC6A5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47965-451A-41FE-92AF-BE78057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Referral sources supplied nearly three quarters of all sessions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0E5C6-545F-47EB-95E7-15B4AC16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Direct remained the second-largest channel; organic search was still small.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BE5A9-0B12-4526-B458-9CC9D62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9C3E-1693-4155-B693-7808BC6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c55cc3dc924eb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0976-DA6E-4601-AF2F-F01B95DC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Channel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5541C-601D-4589-AA80-729A004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A978C-3B75-4C22-95E0-FD52F162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CFD40-C9BE-4FD0-A99B-4ABB41BF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Key-event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8B26-5907-4536-8DA8-BBE577FF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Engaged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5C0CC-4909-491A-9502-9D33D28E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99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ABAA5-B5DF-437F-8325-3E032C9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Referral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C687A-4D3E-4AD9-95BE-9906F36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3,288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D25BE-0749-49C2-AB28-5F634D2D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98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74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92728-C052-4115-B890-97F1C61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09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52.4%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8A881-22FF-468C-B7FD-175EAF8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9FA95-D90E-4D54-9CC1-DA54B45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D1806-823E-487E-BF15-B259C129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993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2EE6F-0BC3-4983-AE47-B277A2A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E8B12-4837-475A-8970-9D88398F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40.4%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D958E-25F6-4D40-A039-B15BD19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291D6-27C3-4759-AE41-EE045C6F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Organic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FBF0F-77EC-4465-AD08-EAC1C0D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DFEA0-8143-4946-8FC7-D23B8E2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EE498-BB22-46BB-BE96-14124FF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48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50.5%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102D0-48B7-44CA-A0EC-B46F217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AE3F1-1CF9-4C5A-8582-5667DA1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Organic Social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A96EC-4CEA-4850-B1D7-9AAC0CA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E349CE-7F13-4045-A00A-5151C8B4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A3E6C-DB1B-4947-BA21-739AD235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61.1%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BAEFCD-F47E-44FE-BA6F-BD16C239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1866337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79B53-7BE9-40E0-BBFF-CA24BD13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DBFB0-F35C-4B87-808A-683A28A3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Two design-gallery referrals generated 64% of sessions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2DCD9-D937-4480-B38D-2666645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homepage converted, while referral landing experiences delivered the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D9F2-3EA1-4D5E-AB90-3FA6C5C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4E5DF-251C-4DBE-96BA-82DEA2D2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bff803cf2c43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1652A-A35C-46C8-A2DA-0679240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Homepage vs. referral entries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2F597-1D96-44F8-BE72-7AF1FDA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Homepage (/)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7460-890E-45F9-B9BA-AA0EDB8E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903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EAC5-55C4-4140-835E-5DE66FAB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39855"/>
                </a:solidFill>
                <a:latin typeface="Helvetica Neue"/>
                <a:ea typeface="Helvetica Neue"/>
                <a:cs typeface="Helvetica Neue"/>
              </a:rPr>
              <a:t>96 key-event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96EAC-2447-467A-98E3-0079218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Data quality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5F192-CB45-48C5-8774-72C7759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540 sessions are reported as “(not set)” landing pages. Investigate landing-page tagging/session_start timing before using page-level totals as a planning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8EA7A-6B88-4636-9304-A412147E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11981107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BC1D6-66A7-4C80-96D6-C49157C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AA08D-4FAD-4432-9F36-1A41931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Conversion reporting is useful directionally—not yet decision-grade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E161-A263-4DB2-A1B6-386EBC7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Clean up event definitions before using GA4 key events as a lead or revenue KPI.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2AE38-4D83-4A79-9FB4-1FBFAB4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9F89D-AEC3-48EF-B828-72831E18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80D66-7A54-4035-BAAC-5B4DB63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7D60-7164-46C5-8747-232F36D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Duplicate key-event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20571-0BC0-410E-81C7-C6760620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050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85 sign_up events and 85 generate_lead events occur in the same period; GA4 reports 170 key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E8C46-D6E5-4989-A78D-416CD2E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09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EA665-E106-44FC-9EE6-14254B31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E79EE-6F16-4F2A-92C8-A3E76EE3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Definition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FF8D8-84F3-4147-8DFA-8DE4646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Prior period had 12 sign_up events but only 6 were key events; current period has 85 sign_up key events.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CEEE1-8CEB-4C55-8E47-E3748A5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14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7F808-9A56-43B8-BA1A-F5BEFF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E4A97-2D15-4D71-B6EC-BBA05337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Incomplete 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0355C-E2AD-4665-AB5E-FC0EAA0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147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Jul 28 had 23 sessions and 0 engaged sessions at extraction; do not treat it as a completed 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AD8E0-72A4-4726-A65A-EE3A43B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24C64-7B1A-424D-9D48-C00ED561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80414-F443-4A58-A622-F698B31A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Landing-page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40FC7-964D-4569-928E-B7F403A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(not set) represents 540 sessions (12% of total).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DC8A5-8D12-41CE-B413-C6B5104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924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669BA-FE5E-4B71-8EBC-E5983B6C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11372118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C9C07-90EF-4BC1-98DC-E0CCFC6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09425-5D70-488A-B985-7583ED8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Protect the referral opportunity and repair the measurement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B274A-C014-4DEC-914C-F1D4E8A7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Next 30 days: turn discovery traffic into a trustworthy acquisition engine.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AE038-F2D5-4AB6-9EE0-2072EE1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8AE17-DBFA-4AD1-9039-7A5EBEB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C4E03-02CC-4634-BB86-D43365ED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B5DD6-23B6-432D-AE4D-10B7292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Instrument one primary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4017A-27EA-431A-BBB4-1CDCCD0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Make sign_up the sole primary event; retain generate_lead only if it represents a separate business outcome.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CC460-EA5E-4E51-9BC5-ABA3337A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A977E-F131-4DFB-A907-E85BAE64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178F5-3392-4182-8A01-DD4BFEBF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C5C70-9382-4E86-934F-ABF42565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010AD-63C4-4AD5-ADEE-EFFDB91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Fix landing-page attribution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8A01C-F6FF-4BB6-AE3B-D26466E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Audit session_start timing, redirects, and consent/tag loading that produce (not set).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AE750-E697-492D-88A6-9A61A1A6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05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 +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CDE7C-CF72-4360-92C5-0AB4A2F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05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Week 1–2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EF717-5A54-4614-AF8B-FC1558A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788BC-2188-410F-AFEE-9BD553B8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A0321-5054-46AB-B366-0C348E7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Optimize referral landing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176E9-E4F8-43B9-81E7-A6AB2FF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Add focused signup CTA and source-aware messaging for One Page Love and Minimal Gallery visitors.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C4D64-D129-4FD5-9275-E85A2DBC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57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0F394-9A76-4FD6-B615-A4F8D23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Week 2–3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CE255-BE32-4255-8F35-6FEDD7F8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5D283-8786-4B88-B740-F69880F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BAC16-7119-4BF5-9AA3-BD300D3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Create a weekly quality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4F906-F216-483D-BB78-3EBFB22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Track sessions, distinct sign-ups, sign-up rate, source, landing page, and lead quality once CRM data is connected.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755EFC-AC99-4DB5-BF21-FC25A0B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Growth + Sales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DF404-9A38-4932-BF81-7A9B935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Week 3–4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9B546-F458-4DDE-B395-D4E73095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B3754-07C2-434A-9639-1BEEDAA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2103176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DF1C6-4534-4B35-AA95-5810C1E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WEBSITE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CF92-862A-4443-9F26-57C2768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Definitions and reporting caveats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3FA88-6414-40D0-882A-766904C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Use this appendix to interpret the metrics consistently.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3E21D-65A3-406C-BEE1-A8508BE5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B50C4-5E3F-47B7-AEE6-5FF50322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19857-DF96-421A-87E6-7004FDEB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C66F2-8083-477B-8338-4C55643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GA4 sessions in the requested date range.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61A86-1C66-408C-9087-AA519E5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73E1A-FE7E-4A50-A84E-4457AA3C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Engagement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41510-B0CD-4A11-87CA-0DCF719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Engaged sessions ÷ sessions.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44506-A47E-47B8-958E-2DB77461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859BF-6443-46DD-946E-DCB87135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Sign-up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3D7BA-F013-409B-8A10-599C95D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Raw sign_up event count; used as the conversion proxy in this deck.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94077-20DE-48F6-A523-CFA78B4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26756-8D3A-45C8-B7CC-59C84EB4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Key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16047-1503-4283-9854-94F5A79C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GA4 keyEvents metric. Not presented as distinct conversions because sign_up and generate_lead are duplicated.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8CE86-3EF6-45FE-9CAC-CF7D1193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54717-33D5-4DA7-8AF0-005F8B5D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Comparison window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1C02A-8CAA-4E05-ABE7-881E60E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624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Immediately preceding 90-day window: Jan 31–Apr 30, 2026.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FB684-1148-406A-BED1-1452248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2750B-272D-45A6-8CC7-A3677E7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Data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8D0C2-04BC-49AD-B199-E0FB6E9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D2939"/>
                </a:solidFill>
                <a:latin typeface="Helvetica Neue"/>
                <a:ea typeface="Helvetica Neue"/>
                <a:cs typeface="Helvetica Neue"/>
              </a:rPr>
              <a:t>Jul 28 is partial; landing-page dimension includes 540 (not set) sessions; no CRM/pipeline or Search Console data included.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CC7A9-35C9-4F58-916C-093C7B6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B2902-C068-4E37-B7D9-F9A679F9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Google Analytics 4 Data API; website property; extracted Jul 28, 2026. Current period May 1–Jul 28, 2026; comparison Jan 31–Apr 30, 2026.</a:t>
            </a:r>
          </a:p>
        </p:txBody>
      </p:sp>
    </p:spTree>
    <p:extLst>
      <p:ext uri="{BB962C8B-B14F-4D97-AF65-F5344CB8AC3E}">
        <p14:creationId xmlns:p14="http://schemas.microsoft.com/office/powerpoint/2010/main" val="669375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2026-07-28T15:32:03.4190000Z</dcterms:created>
  <dcterms:modified xsi:type="dcterms:W3CDTF">2026-07-28T15:32:03.4190000Z</dcterms:modified>
</coreProperties>
</file>